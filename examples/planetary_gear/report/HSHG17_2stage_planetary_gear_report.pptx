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Argos 측정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FDDEE"/>
                </a:solidFill>
                <a:latin typeface="Malgun Gothic"/>
              </a:rPr>
              <a:t>파일: HSHG17_2stage_planetary_gear.step</a:t>
            </a:r>
          </a:p>
          <a:p>
            <a:pPr algn="l"/>
            <a:r>
              <a:rPr sz="1600" b="0">
                <a:solidFill>
                  <a:srgbClr val="CFDDEE"/>
                </a:solidFill>
                <a:latin typeface="Malgun Gothic"/>
              </a:rPr>
              <a:t>재료/밀도: 강철(steel)</a:t>
            </a:r>
          </a:p>
          <a:p>
            <a:pPr algn="l"/>
            <a:r>
              <a:rPr sz="1600" b="0">
                <a:solidFill>
                  <a:srgbClr val="CFDDEE"/>
                </a:solidFill>
                <a:latin typeface="Malgun Gothic"/>
              </a:rPr>
              <a:t>생성: Argos (argos-cli digest/props)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개요 · 주요 치수</a:t>
            </a:r>
          </a:p>
          <a:p>
            <a:r>
              <a:rPr sz="1200">
                <a:solidFill>
                  <a:srgbClr val="DDEAF8"/>
                </a:solidFill>
                <a:latin typeface="Malgun Gothic"/>
              </a:rPr>
              <a:t>HSHG17_2stage_planetary_gear.step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325880"/>
          <a:ext cx="61264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180"/>
                <a:gridCol w="330829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전체 치수 (L×W×H)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49.17 × 49.17 × 93.00 mm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부피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103,467.00 mm³  (103.47 cm³)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표면적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20,554.35 mm²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솔리드 / 면 / 모서리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 / 198 / 483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view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17320"/>
            <a:ext cx="4937760" cy="3703320"/>
          </a:xfrm>
          <a:prstGeom prst="rect">
            <a:avLst/>
          </a:prstGeom>
          <a:ln w="9525">
            <a:solidFill>
              <a:srgbClr val="CFD6D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12280" y="5148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A6E73"/>
                </a:solidFill>
                <a:latin typeface="Malgun Gothic"/>
              </a:rPr>
              <a:t>등각 투상도 (Argos 3D 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주요 뷰 — 측정 위치</a:t>
            </a:r>
          </a:p>
          <a:p>
            <a:r>
              <a:rPr sz="1200">
                <a:solidFill>
                  <a:srgbClr val="DDEAF8"/>
                </a:solidFill>
                <a:latin typeface="Malgun Gothic"/>
              </a:rPr>
              <a:t>HSHG17_2stage_planetary_gear.step</a:t>
            </a:r>
          </a:p>
        </p:txBody>
      </p:sp>
      <p:pic>
        <p:nvPicPr>
          <p:cNvPr id="3" name="Picture 2" descr="view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3886200" cy="2914650"/>
          </a:xfrm>
          <a:prstGeom prst="rect">
            <a:avLst/>
          </a:prstGeom>
          <a:ln w="9525">
            <a:solidFill>
              <a:srgbClr val="CFD6DE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20040" y="426796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A6E73"/>
                </a:solidFill>
                <a:latin typeface="Malgun Gothic"/>
              </a:rPr>
              <a:t>정면도 — 폭(X) × 높이(Z)</a:t>
            </a:r>
          </a:p>
        </p:txBody>
      </p:sp>
      <p:pic>
        <p:nvPicPr>
          <p:cNvPr id="5" name="Picture 4" descr="view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325880"/>
            <a:ext cx="3886200" cy="2914650"/>
          </a:xfrm>
          <a:prstGeom prst="rect">
            <a:avLst/>
          </a:prstGeom>
          <a:ln w="9525">
            <a:solidFill>
              <a:srgbClr val="CFD6DE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160520" y="426796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A6E73"/>
                </a:solidFill>
                <a:latin typeface="Malgun Gothic"/>
              </a:rPr>
              <a:t>윗면도 — 길이(X) × 폭(Y)</a:t>
            </a:r>
          </a:p>
        </p:txBody>
      </p:sp>
      <p:pic>
        <p:nvPicPr>
          <p:cNvPr id="7" name="Picture 6" descr="view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325880"/>
            <a:ext cx="3886200" cy="2914650"/>
          </a:xfrm>
          <a:prstGeom prst="rect">
            <a:avLst/>
          </a:prstGeom>
          <a:ln w="9525">
            <a:solidFill>
              <a:srgbClr val="CFD6D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001000" y="4267962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A6E73"/>
                </a:solidFill>
                <a:latin typeface="Malgun Gothic"/>
              </a:rPr>
              <a:t>측면도 — 폭(Y) × 높이(Z)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질량 특성 (휴머노이드 링크 동역학)</a:t>
            </a:r>
          </a:p>
          <a:p>
            <a:r>
              <a:rPr sz="1200">
                <a:solidFill>
                  <a:srgbClr val="DDEAF8"/>
                </a:solidFill>
                <a:latin typeface="Malgun Gothic"/>
              </a:rPr>
              <a:t>HSHG17_2stage_planetary_gear.step  ·  강철(steel)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9662"/>
                <a:gridCol w="7181697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질량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0.8122 kg  (812.22 g)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무게중심 COM (mm)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(-0.000, 0.002, 39.087)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주관성모멘트 (kg·m²)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4.8533e-04,  4.8446e-04,  2.0359e-04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6FC2"/>
                </a:solidFill>
                <a:latin typeface="Malgun Gothic"/>
              </a:rPr>
              <a:t>관성텐서 (COM 기준, kg·m²)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3657600"/>
          <a:ext cx="749807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9692"/>
                <a:gridCol w="2099462"/>
                <a:gridCol w="2099462"/>
                <a:gridCol w="209946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x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y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</a:rPr>
                        <a:t>z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x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4.8515e-04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3.4617e-07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-1.2660e-11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3.4617e-07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4.8464e-04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-7.8781e-08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z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-1.2660e-11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-7.8781e-08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426"/>
                          </a:solidFill>
                          <a:latin typeface="Malgun Gothic"/>
                        </a:rPr>
                        <a:t>2.0359e-04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주요 지름 (원통면)</a:t>
            </a:r>
          </a:p>
          <a:p>
            <a:r>
              <a:rPr sz="1200">
                <a:solidFill>
                  <a:srgbClr val="DDEAF8"/>
                </a:solidFill>
                <a:latin typeface="Malgun Gothic"/>
              </a:rPr>
              <a:t>HSHG17_2stage_planetary_gear.step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4864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2304288"/>
                <a:gridCol w="2304288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지름 (mm)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반경 (mm)</a:t>
                      </a:r>
                    </a:p>
                  </a:txBody>
                  <a:tcPr anchor="ctr" marL="73152" marT="18288" marB="18288">
                    <a:solidFill>
                      <a:srgbClr val="1F6F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58.000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29.000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54.000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27.000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42.000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21.000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28.000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14.000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22.000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11.000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18.000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9.000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10.000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5.000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8.000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4.000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6.800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3.400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6.000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3.000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5.000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2.500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3.200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1.600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3.000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1.500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2.980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1.490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15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2.500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1.250</a:t>
                      </a:r>
                    </a:p>
                  </a:txBody>
                  <a:tcPr anchor="ctr" marL="73152" marT="18288" marB="18288">
                    <a:solidFill>
                      <a:srgbClr val="F4F6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0.600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426"/>
                          </a:solidFill>
                          <a:latin typeface="Malgun Gothic"/>
                        </a:rPr>
                        <a:t>0.300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view_i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5303520" cy="3977640"/>
          </a:xfrm>
          <a:prstGeom prst="rect">
            <a:avLst/>
          </a:prstGeom>
          <a:ln w="9525">
            <a:solidFill>
              <a:srgbClr val="CFD6D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00800" y="5422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A6E73"/>
                </a:solidFill>
                <a:latin typeface="Malgun Gothic"/>
              </a:rPr>
              <a:t>원통면 위치 (등각 투상도)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URDF &lt;inertial&gt; (로봇 링크)</a:t>
            </a:r>
          </a:p>
          <a:p>
            <a:r>
              <a:rPr sz="1200">
                <a:solidFill>
                  <a:srgbClr val="DDEAF8"/>
                </a:solidFill>
                <a:latin typeface="Malgun Gothic"/>
              </a:rPr>
              <a:t>HSHG17_2stage_planetary_gear.step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426"/>
                </a:solidFill>
                <a:latin typeface="Consolas"/>
              </a:rPr>
              <a:t>&lt;inertial&gt;</a:t>
            </a:r>
          </a:p>
          <a:p>
            <a:pPr algn="l"/>
            <a:r>
              <a:rPr sz="1400" b="0">
                <a:solidFill>
                  <a:srgbClr val="222426"/>
                </a:solidFill>
                <a:latin typeface="Consolas"/>
              </a:rPr>
              <a:t>  &lt;origin xyz="-8.52116e-10 2.25946e-06 0.0390866" rpy="0 0 0"/&gt;</a:t>
            </a:r>
          </a:p>
          <a:p>
            <a:pPr algn="l"/>
            <a:r>
              <a:rPr sz="1400" b="0">
                <a:solidFill>
                  <a:srgbClr val="222426"/>
                </a:solidFill>
                <a:latin typeface="Consolas"/>
              </a:rPr>
              <a:t>  &lt;mass value="0.812216"/&gt;</a:t>
            </a:r>
          </a:p>
          <a:p>
            <a:pPr algn="l"/>
            <a:r>
              <a:rPr sz="1400" b="0">
                <a:solidFill>
                  <a:srgbClr val="222426"/>
                </a:solidFill>
                <a:latin typeface="Consolas"/>
              </a:rPr>
              <a:t>  &lt;inertia ixx="0.000485152" ixy="3.46175e-07" ixz="-1.26598e-11" iyy="0.000484636" iyz="-7.87812e-08" izz="0.000203592"/&gt;</a:t>
            </a:r>
          </a:p>
          <a:p>
            <a:pPr algn="l"/>
            <a:r>
              <a:rPr sz="1400" b="0">
                <a:solidFill>
                  <a:srgbClr val="222426"/>
                </a:solidFill>
                <a:latin typeface="Consolas"/>
              </a:rPr>
              <a:t>&lt;/inertial&gt;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